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6" r:id="rId6"/>
    <p:sldId id="267" r:id="rId7"/>
    <p:sldId id="263" r:id="rId8"/>
    <p:sldId id="261" r:id="rId9"/>
    <p:sldId id="265" r:id="rId10"/>
  </p:sldIdLst>
  <p:sldSz cx="9144000" cy="5143500" type="screen16x9"/>
  <p:notesSz cx="5143500" cy="9144000"/>
  <p:embeddedFontLst>
    <p:embeddedFont>
      <p:font typeface="Barlow Bold" panose="020B0604020202020204" charset="0"/>
      <p:regular r:id="rId12"/>
    </p:embeddedFont>
    <p:embeddedFont>
      <p:font typeface="Barlow Light" panose="00000400000000000000" pitchFamily="2" charset="0"/>
      <p:regular r:id="rId13"/>
      <p: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old" panose="00000800000000000000" charset="0"/>
      <p:regular r:id="rId19"/>
    </p:embeddedFont>
    <p:embeddedFont>
      <p:font typeface="Montserrat Medium" panose="00000600000000000000" pitchFamily="2" charset="0"/>
      <p:regular r:id="rId20"/>
      <p: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90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764" y="609765"/>
            <a:ext cx="2634853" cy="3952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129" y="309891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Elevator Configuration &amp; Pricing Engine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55129" y="1195558"/>
            <a:ext cx="1385367" cy="205680"/>
          </a:xfrm>
          <a:prstGeom prst="roundRect">
            <a:avLst>
              <a:gd name="adj" fmla="val 79005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22846" y="1236114"/>
            <a:ext cx="168019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INTERNSHIP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194137" y="4559872"/>
            <a:ext cx="4767114" cy="101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Prepared by</a:t>
            </a:r>
            <a:endParaRPr lang="en-US" sz="105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Sri Balagi R</a:t>
            </a:r>
            <a:endParaRPr lang="en-US" sz="105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ED47172F-CCD1-E948-C3C7-E002C36ACE13}"/>
              </a:ext>
            </a:extLst>
          </p:cNvPr>
          <p:cNvSpPr/>
          <p:nvPr/>
        </p:nvSpPr>
        <p:spPr>
          <a:xfrm>
            <a:off x="555129" y="164553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B8ED5E9F-5F30-4F32-122D-640E17E98A37}"/>
              </a:ext>
            </a:extLst>
          </p:cNvPr>
          <p:cNvSpPr/>
          <p:nvPr/>
        </p:nvSpPr>
        <p:spPr>
          <a:xfrm>
            <a:off x="559270" y="2138308"/>
            <a:ext cx="4127971" cy="2246858"/>
          </a:xfrm>
          <a:prstGeom prst="roundRect">
            <a:avLst>
              <a:gd name="adj" fmla="val 14464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EBB12B3F-9A01-78E3-0036-81229606B969}"/>
              </a:ext>
            </a:extLst>
          </p:cNvPr>
          <p:cNvSpPr/>
          <p:nvPr/>
        </p:nvSpPr>
        <p:spPr>
          <a:xfrm>
            <a:off x="694630" y="2273667"/>
            <a:ext cx="385725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Existing Challenges</a:t>
            </a:r>
            <a:endParaRPr lang="en-US" sz="1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475E5D3-212A-5DBB-47D3-3D308D54BDE3}"/>
              </a:ext>
            </a:extLst>
          </p:cNvPr>
          <p:cNvSpPr/>
          <p:nvPr/>
        </p:nvSpPr>
        <p:spPr>
          <a:xfrm>
            <a:off x="694628" y="2569601"/>
            <a:ext cx="3857253" cy="1706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Elevator configuration involves multiple engineering decisions.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depends on several configurable parameters.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validation increases engineering effort.</a:t>
            </a:r>
          </a:p>
          <a:p>
            <a:pPr marL="213360" indent="-213360">
              <a:lnSpc>
                <a:spcPct val="133000"/>
              </a:lnSpc>
              <a:buSzPct val="100000"/>
              <a:buFontTx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have limited ability to explore different configurations.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Ensuring Creation of valid and technically feasible configurations require robust rule engine.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73942" y="1152450"/>
            <a:ext cx="7917435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a software platform that allows customers to configure elevators, validate configurations, calculate pricing, generate quotations, and export reports through an automated workflow.</a:t>
            </a:r>
            <a:endParaRPr lang="en-US" sz="12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B19CCF67-093C-177C-6D97-B554D1E7EB47}"/>
              </a:ext>
            </a:extLst>
          </p:cNvPr>
          <p:cNvSpPr/>
          <p:nvPr/>
        </p:nvSpPr>
        <p:spPr>
          <a:xfrm>
            <a:off x="473943" y="678432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A98820F-2DE4-CA44-6364-AB7248D17D35}"/>
              </a:ext>
            </a:extLst>
          </p:cNvPr>
          <p:cNvSpPr/>
          <p:nvPr/>
        </p:nvSpPr>
        <p:spPr>
          <a:xfrm>
            <a:off x="473942" y="1868788"/>
            <a:ext cx="2128580" cy="33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Workflow</a:t>
            </a:r>
            <a:endParaRPr lang="en-US" sz="14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BDA5850E-5167-FB88-CB37-3296DCA9048D}"/>
              </a:ext>
            </a:extLst>
          </p:cNvPr>
          <p:cNvSpPr/>
          <p:nvPr/>
        </p:nvSpPr>
        <p:spPr>
          <a:xfrm>
            <a:off x="473980" y="239166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05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B62AED9-CFAA-8D0A-D4CA-8E9C35BC9954}"/>
              </a:ext>
            </a:extLst>
          </p:cNvPr>
          <p:cNvSpPr/>
          <p:nvPr/>
        </p:nvSpPr>
        <p:spPr>
          <a:xfrm>
            <a:off x="473980" y="2602632"/>
            <a:ext cx="2641774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3A43828-E2CC-FE2B-69D3-4347BEBED68F}"/>
              </a:ext>
            </a:extLst>
          </p:cNvPr>
          <p:cNvSpPr/>
          <p:nvPr/>
        </p:nvSpPr>
        <p:spPr>
          <a:xfrm>
            <a:off x="473980" y="2708374"/>
            <a:ext cx="26417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Select elevator category</a:t>
            </a:r>
            <a:endParaRPr lang="en-US" sz="14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ECF3311-E406-F639-F5F7-D31613A69ABF}"/>
              </a:ext>
            </a:extLst>
          </p:cNvPr>
          <p:cNvSpPr/>
          <p:nvPr/>
        </p:nvSpPr>
        <p:spPr>
          <a:xfrm>
            <a:off x="3251113" y="239166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05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51B6C1B0-FFC1-D6AE-DBCB-9632F6980CC9}"/>
              </a:ext>
            </a:extLst>
          </p:cNvPr>
          <p:cNvSpPr/>
          <p:nvPr/>
        </p:nvSpPr>
        <p:spPr>
          <a:xfrm>
            <a:off x="3251113" y="2602632"/>
            <a:ext cx="2641774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E81F813-AC4B-D2AA-8DC7-E90D7E2BF468}"/>
              </a:ext>
            </a:extLst>
          </p:cNvPr>
          <p:cNvSpPr/>
          <p:nvPr/>
        </p:nvSpPr>
        <p:spPr>
          <a:xfrm>
            <a:off x="3251113" y="2708374"/>
            <a:ext cx="26417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Configure elevator features</a:t>
            </a:r>
            <a:endParaRPr lang="en-US" sz="14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E3999EF-74A2-E9F7-5DAE-2BC5A88B6D34}"/>
              </a:ext>
            </a:extLst>
          </p:cNvPr>
          <p:cNvSpPr/>
          <p:nvPr/>
        </p:nvSpPr>
        <p:spPr>
          <a:xfrm>
            <a:off x="6028246" y="2391668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05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A209C092-47B4-5DBB-E412-FF518720EEEB}"/>
              </a:ext>
            </a:extLst>
          </p:cNvPr>
          <p:cNvSpPr/>
          <p:nvPr/>
        </p:nvSpPr>
        <p:spPr>
          <a:xfrm>
            <a:off x="6028246" y="2602632"/>
            <a:ext cx="2641848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1ED01A51-58D5-CC55-EC1B-A78BCDBD3845}"/>
              </a:ext>
            </a:extLst>
          </p:cNvPr>
          <p:cNvSpPr/>
          <p:nvPr/>
        </p:nvSpPr>
        <p:spPr>
          <a:xfrm>
            <a:off x="6028246" y="2708374"/>
            <a:ext cx="26418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Validate engineering rules</a:t>
            </a:r>
            <a:endParaRPr lang="en-US" sz="14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AB035F91-88C4-2EE2-FD4E-0B19A951A494}"/>
              </a:ext>
            </a:extLst>
          </p:cNvPr>
          <p:cNvSpPr/>
          <p:nvPr/>
        </p:nvSpPr>
        <p:spPr>
          <a:xfrm>
            <a:off x="473980" y="3167881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60AA769F-D7F6-A1C4-B596-22817385C031}"/>
              </a:ext>
            </a:extLst>
          </p:cNvPr>
          <p:cNvSpPr/>
          <p:nvPr/>
        </p:nvSpPr>
        <p:spPr>
          <a:xfrm>
            <a:off x="473980" y="3365301"/>
            <a:ext cx="2641774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3806672B-AA80-6112-C80A-89B817F26C67}"/>
              </a:ext>
            </a:extLst>
          </p:cNvPr>
          <p:cNvSpPr/>
          <p:nvPr/>
        </p:nvSpPr>
        <p:spPr>
          <a:xfrm>
            <a:off x="473980" y="3484587"/>
            <a:ext cx="26417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Resolve dependencies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1B295483-7038-9436-BA18-8EDB32D394D9}"/>
              </a:ext>
            </a:extLst>
          </p:cNvPr>
          <p:cNvSpPr/>
          <p:nvPr/>
        </p:nvSpPr>
        <p:spPr>
          <a:xfrm>
            <a:off x="3251113" y="3167881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05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263EB84B-9EBC-FCC8-C8DC-DADCB4848F1D}"/>
              </a:ext>
            </a:extLst>
          </p:cNvPr>
          <p:cNvSpPr/>
          <p:nvPr/>
        </p:nvSpPr>
        <p:spPr>
          <a:xfrm>
            <a:off x="3251113" y="3365301"/>
            <a:ext cx="2641774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8BDF421-2170-41D6-4FFD-AE4FCCAB288B}"/>
              </a:ext>
            </a:extLst>
          </p:cNvPr>
          <p:cNvSpPr/>
          <p:nvPr/>
        </p:nvSpPr>
        <p:spPr>
          <a:xfrm>
            <a:off x="3251113" y="3484587"/>
            <a:ext cx="26417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Generate Bill of Materials</a:t>
            </a:r>
            <a:endParaRPr lang="en-US" sz="14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D54A4ADE-0680-F440-E5E1-378A60234F6A}"/>
              </a:ext>
            </a:extLst>
          </p:cNvPr>
          <p:cNvSpPr/>
          <p:nvPr/>
        </p:nvSpPr>
        <p:spPr>
          <a:xfrm>
            <a:off x="6028246" y="3167881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105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20F43E4C-C5DF-72D5-F006-7AAB62B6D4AF}"/>
              </a:ext>
            </a:extLst>
          </p:cNvPr>
          <p:cNvSpPr/>
          <p:nvPr/>
        </p:nvSpPr>
        <p:spPr>
          <a:xfrm>
            <a:off x="6028246" y="3365301"/>
            <a:ext cx="2641848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5F88E730-F9CA-8D8B-CD58-32C97DD7FCA4}"/>
              </a:ext>
            </a:extLst>
          </p:cNvPr>
          <p:cNvSpPr/>
          <p:nvPr/>
        </p:nvSpPr>
        <p:spPr>
          <a:xfrm>
            <a:off x="6028246" y="3484587"/>
            <a:ext cx="26418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Calculate pricing</a:t>
            </a:r>
            <a:endParaRPr lang="en-US" sz="14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E4DB2F2B-361E-4AB0-0CCC-0F1FE7CBCEF4}"/>
              </a:ext>
            </a:extLst>
          </p:cNvPr>
          <p:cNvSpPr/>
          <p:nvPr/>
        </p:nvSpPr>
        <p:spPr>
          <a:xfrm>
            <a:off x="473980" y="3944094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07</a:t>
            </a:r>
            <a:endParaRPr lang="en-US" sz="105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C721F807-149C-B8E2-7D8F-3925E572EC1F}"/>
              </a:ext>
            </a:extLst>
          </p:cNvPr>
          <p:cNvSpPr/>
          <p:nvPr/>
        </p:nvSpPr>
        <p:spPr>
          <a:xfrm>
            <a:off x="473980" y="4128045"/>
            <a:ext cx="2641774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C6F097C3-B98C-2BF8-A97D-4FF611FF0976}"/>
              </a:ext>
            </a:extLst>
          </p:cNvPr>
          <p:cNvSpPr/>
          <p:nvPr/>
        </p:nvSpPr>
        <p:spPr>
          <a:xfrm>
            <a:off x="473980" y="4260800"/>
            <a:ext cx="26417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Generate quotation</a:t>
            </a:r>
            <a:endParaRPr lang="en-US" sz="14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95CEBC88-E7B0-61FA-192B-0A69B686E379}"/>
              </a:ext>
            </a:extLst>
          </p:cNvPr>
          <p:cNvSpPr/>
          <p:nvPr/>
        </p:nvSpPr>
        <p:spPr>
          <a:xfrm>
            <a:off x="3251113" y="3944094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08</a:t>
            </a:r>
            <a:endParaRPr lang="en-US" sz="1050" dirty="0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1CB3A272-CFF7-E4C9-7FF5-6345EF61F64B}"/>
              </a:ext>
            </a:extLst>
          </p:cNvPr>
          <p:cNvSpPr/>
          <p:nvPr/>
        </p:nvSpPr>
        <p:spPr>
          <a:xfrm>
            <a:off x="3251113" y="4128045"/>
            <a:ext cx="2641774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1ACC463C-B882-13A5-21A8-47F55560EF75}"/>
              </a:ext>
            </a:extLst>
          </p:cNvPr>
          <p:cNvSpPr/>
          <p:nvPr/>
        </p:nvSpPr>
        <p:spPr>
          <a:xfrm>
            <a:off x="3251113" y="4260800"/>
            <a:ext cx="26417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Export reports</a:t>
            </a:r>
            <a:endParaRPr lang="en-US" sz="14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40A3BAFA-61C1-EFD1-7F60-A515188E8CE9}"/>
              </a:ext>
            </a:extLst>
          </p:cNvPr>
          <p:cNvSpPr/>
          <p:nvPr/>
        </p:nvSpPr>
        <p:spPr>
          <a:xfrm>
            <a:off x="6028246" y="3944094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09</a:t>
            </a:r>
            <a:endParaRPr lang="en-US" sz="1050" dirty="0"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A38A9173-371B-6D16-B6AF-F930AEF760EA}"/>
              </a:ext>
            </a:extLst>
          </p:cNvPr>
          <p:cNvSpPr/>
          <p:nvPr/>
        </p:nvSpPr>
        <p:spPr>
          <a:xfrm>
            <a:off x="6028246" y="4128045"/>
            <a:ext cx="2641848" cy="19050"/>
          </a:xfrm>
          <a:prstGeom prst="rect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AE2487AC-46CA-F0AE-7409-A31EC93A921D}"/>
              </a:ext>
            </a:extLst>
          </p:cNvPr>
          <p:cNvSpPr/>
          <p:nvPr/>
        </p:nvSpPr>
        <p:spPr>
          <a:xfrm>
            <a:off x="6028246" y="4260800"/>
            <a:ext cx="27406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Store configuration for future use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">
            <a:extLst>
              <a:ext uri="{FF2B5EF4-FFF2-40B4-BE49-F238E27FC236}">
                <a16:creationId xmlns:a16="http://schemas.microsoft.com/office/drawing/2014/main" id="{B4440256-7012-BF53-8C3D-19AEEF99CC3D}"/>
              </a:ext>
            </a:extLst>
          </p:cNvPr>
          <p:cNvSpPr/>
          <p:nvPr/>
        </p:nvSpPr>
        <p:spPr>
          <a:xfrm>
            <a:off x="6432050" y="3296636"/>
            <a:ext cx="1752193" cy="1697394"/>
          </a:xfrm>
          <a:prstGeom prst="roundRect">
            <a:avLst>
              <a:gd name="adj" fmla="val 9079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7CD2A909-8DDF-647C-602A-DA63EEB8016D}"/>
              </a:ext>
            </a:extLst>
          </p:cNvPr>
          <p:cNvSpPr/>
          <p:nvPr/>
        </p:nvSpPr>
        <p:spPr>
          <a:xfrm>
            <a:off x="3458648" y="3296636"/>
            <a:ext cx="1752193" cy="1697394"/>
          </a:xfrm>
          <a:prstGeom prst="roundRect">
            <a:avLst>
              <a:gd name="adj" fmla="val 9079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473943" y="372368"/>
            <a:ext cx="3370858" cy="43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801" y="211181"/>
            <a:ext cx="5075762" cy="28551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930752"/>
            <a:ext cx="4015457" cy="28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Barlow Bold" panose="020B0604020202020204" charset="0"/>
              </a:rPr>
              <a:t>Framework/Architecture</a:t>
            </a:r>
          </a:p>
        </p:txBody>
      </p:sp>
      <p:sp>
        <p:nvSpPr>
          <p:cNvPr id="5" name="Text 2"/>
          <p:cNvSpPr/>
          <p:nvPr/>
        </p:nvSpPr>
        <p:spPr>
          <a:xfrm>
            <a:off x="473943" y="1262416"/>
            <a:ext cx="4015457" cy="158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Configuration Pipeline</a:t>
            </a:r>
            <a:endParaRPr lang="en-US" sz="12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 Engine</a:t>
            </a:r>
            <a:endParaRPr lang="en-US" sz="12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Dependency Engine</a:t>
            </a:r>
            <a:endParaRPr lang="en-US" sz="12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Engine</a:t>
            </a:r>
            <a:endParaRPr lang="en-US" sz="12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Generator</a:t>
            </a:r>
            <a:endParaRPr lang="en-US" sz="12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Quote Generator</a:t>
            </a:r>
            <a:endParaRPr lang="en-US" sz="1200" dirty="0"/>
          </a:p>
          <a:p>
            <a:pPr algn="l">
              <a:lnSpc>
                <a:spcPct val="100000"/>
              </a:lnSpc>
              <a:buSzPct val="100000"/>
            </a:pPr>
            <a:endParaRPr lang="en-US" sz="12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C7AC2FFA-DEB8-9023-DFB9-F635E8F444A1}"/>
              </a:ext>
            </a:extLst>
          </p:cNvPr>
          <p:cNvSpPr/>
          <p:nvPr/>
        </p:nvSpPr>
        <p:spPr>
          <a:xfrm>
            <a:off x="412382" y="3296635"/>
            <a:ext cx="1752193" cy="1697395"/>
          </a:xfrm>
          <a:prstGeom prst="roundRect">
            <a:avLst>
              <a:gd name="adj" fmla="val 9079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85DFB77D-8906-566D-4F80-8F163E8F7B07}"/>
              </a:ext>
            </a:extLst>
          </p:cNvPr>
          <p:cNvSpPr/>
          <p:nvPr/>
        </p:nvSpPr>
        <p:spPr>
          <a:xfrm>
            <a:off x="632148" y="3409340"/>
            <a:ext cx="106819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A94D558-7A17-67E5-89BE-5ADF05B80030}"/>
              </a:ext>
            </a:extLst>
          </p:cNvPr>
          <p:cNvSpPr/>
          <p:nvPr/>
        </p:nvSpPr>
        <p:spPr>
          <a:xfrm>
            <a:off x="653727" y="3631987"/>
            <a:ext cx="936401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Pydantic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</a:t>
            </a:r>
            <a:endParaRPr lang="en-US" sz="105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E73AA1D-9D64-24B4-1D61-CC3F7FB73186}"/>
              </a:ext>
            </a:extLst>
          </p:cNvPr>
          <p:cNvSpPr/>
          <p:nvPr/>
        </p:nvSpPr>
        <p:spPr>
          <a:xfrm>
            <a:off x="3641310" y="3419314"/>
            <a:ext cx="92994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82BFAC9-C0C4-A4BE-9373-CA7B7DC6B09B}"/>
              </a:ext>
            </a:extLst>
          </p:cNvPr>
          <p:cNvSpPr/>
          <p:nvPr/>
        </p:nvSpPr>
        <p:spPr>
          <a:xfrm>
            <a:off x="3641221" y="3631987"/>
            <a:ext cx="1387045" cy="134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</a:t>
            </a:r>
            <a:endParaRPr lang="en-US" sz="105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TypeScript</a:t>
            </a:r>
            <a:endParaRPr lang="en-US" sz="105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Vite</a:t>
            </a:r>
            <a:endParaRPr lang="en-US" sz="105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Tailwind CSS</a:t>
            </a:r>
            <a:endParaRPr lang="en-US" sz="105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Zustand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1021A417-B84C-DD7A-1565-CBEEBCEF6ABC}"/>
              </a:ext>
            </a:extLst>
          </p:cNvPr>
          <p:cNvSpPr/>
          <p:nvPr/>
        </p:nvSpPr>
        <p:spPr>
          <a:xfrm>
            <a:off x="6556172" y="3424352"/>
            <a:ext cx="125790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Testing &amp; Tools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D0AD61CA-949C-EC67-D1CF-FBA8EA9B02F8}"/>
              </a:ext>
            </a:extLst>
          </p:cNvPr>
          <p:cNvSpPr/>
          <p:nvPr/>
        </p:nvSpPr>
        <p:spPr>
          <a:xfrm>
            <a:off x="6607623" y="3646999"/>
            <a:ext cx="1257909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Pytest</a:t>
            </a:r>
            <a:endParaRPr lang="en-US" sz="105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Vitest</a:t>
            </a:r>
            <a:endParaRPr lang="en-US" sz="105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OpenAPI</a:t>
            </a:r>
            <a:endParaRPr lang="en-US" sz="105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&amp; GitHub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499A0E70-4263-1288-040C-BC2785480F03}"/>
              </a:ext>
            </a:extLst>
          </p:cNvPr>
          <p:cNvSpPr/>
          <p:nvPr/>
        </p:nvSpPr>
        <p:spPr>
          <a:xfrm>
            <a:off x="473943" y="2906297"/>
            <a:ext cx="4015457" cy="28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Barlow Bold" panose="020B0604020202020204" charset="0"/>
              </a:rPr>
              <a:t>Tech Stack</a:t>
            </a:r>
          </a:p>
        </p:txBody>
      </p:sp>
      <p:pic>
        <p:nvPicPr>
          <p:cNvPr id="34" name="Picture 33" descr="FastAPI SVG and transparent PNG icons | TechIcons">
            <a:extLst>
              <a:ext uri="{FF2B5EF4-FFF2-40B4-BE49-F238E27FC236}">
                <a16:creationId xmlns:a16="http://schemas.microsoft.com/office/drawing/2014/main" id="{16990326-1B81-3EE8-41B6-61E4CA224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697" y="3424352"/>
            <a:ext cx="513894" cy="513894"/>
          </a:xfrm>
          <a:prstGeom prst="rect">
            <a:avLst/>
          </a:prstGeom>
        </p:spPr>
      </p:pic>
      <p:pic>
        <p:nvPicPr>
          <p:cNvPr id="35" name="Picture 34" descr="File:SQLite370.svg - Wikimedia Commons">
            <a:extLst>
              <a:ext uri="{FF2B5EF4-FFF2-40B4-BE49-F238E27FC236}">
                <a16:creationId xmlns:a16="http://schemas.microsoft.com/office/drawing/2014/main" id="{C2F13700-3DB6-7522-D500-9A3164177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2766" y="4145332"/>
            <a:ext cx="920792" cy="434229"/>
          </a:xfrm>
          <a:prstGeom prst="rect">
            <a:avLst/>
          </a:prstGeom>
        </p:spPr>
      </p:pic>
      <p:pic>
        <p:nvPicPr>
          <p:cNvPr id="36" name="Picture 35" descr="React Logo, symbol, meaning, history, PNG, brand">
            <a:extLst>
              <a:ext uri="{FF2B5EF4-FFF2-40B4-BE49-F238E27FC236}">
                <a16:creationId xmlns:a16="http://schemas.microsoft.com/office/drawing/2014/main" id="{51EEF037-4684-7BBA-3DBD-265BAC13B1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962" r="15356"/>
          <a:stretch>
            <a:fillRect/>
          </a:stretch>
        </p:blipFill>
        <p:spPr>
          <a:xfrm>
            <a:off x="5330806" y="3461859"/>
            <a:ext cx="662033" cy="556210"/>
          </a:xfrm>
          <a:prstGeom prst="rect">
            <a:avLst/>
          </a:prstGeom>
        </p:spPr>
      </p:pic>
      <p:pic>
        <p:nvPicPr>
          <p:cNvPr id="37" name="Picture 36" descr="Tailwind CSS Logo PNG Vector (SVG) Free Download">
            <a:extLst>
              <a:ext uri="{FF2B5EF4-FFF2-40B4-BE49-F238E27FC236}">
                <a16:creationId xmlns:a16="http://schemas.microsoft.com/office/drawing/2014/main" id="{2DDCA407-D072-9227-A368-4EF28E384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048" y="4165340"/>
            <a:ext cx="605791" cy="605791"/>
          </a:xfrm>
          <a:prstGeom prst="rect">
            <a:avLst/>
          </a:prstGeom>
        </p:spPr>
      </p:pic>
      <p:pic>
        <p:nvPicPr>
          <p:cNvPr id="38" name="Picture 37" descr="pytest SVG and transparent PNG icons | TechIcons">
            <a:extLst>
              <a:ext uri="{FF2B5EF4-FFF2-40B4-BE49-F238E27FC236}">
                <a16:creationId xmlns:a16="http://schemas.microsoft.com/office/drawing/2014/main" id="{F9333AB9-ED36-5940-6C87-6AB93E8573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3515" y="3482742"/>
            <a:ext cx="605792" cy="605792"/>
          </a:xfrm>
          <a:prstGeom prst="rect">
            <a:avLst/>
          </a:prstGeom>
        </p:spPr>
      </p:pic>
      <p:pic>
        <p:nvPicPr>
          <p:cNvPr id="39" name="Picture 38" descr="Github Logo - Free social media icons">
            <a:extLst>
              <a:ext uri="{FF2B5EF4-FFF2-40B4-BE49-F238E27FC236}">
                <a16:creationId xmlns:a16="http://schemas.microsoft.com/office/drawing/2014/main" id="{FBB774C5-32DF-1DDA-2481-AC428BB828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4771" y="4165340"/>
            <a:ext cx="605792" cy="605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4005"/>
            <a:ext cx="8196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Major Features Implemented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3943" y="1059582"/>
            <a:ext cx="2647355" cy="1223888"/>
          </a:xfrm>
          <a:prstGeom prst="roundRect">
            <a:avLst>
              <a:gd name="adj" fmla="val 160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09823" y="1195462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09823" y="1715988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Elevator Configuration Wizard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248323" y="1059582"/>
            <a:ext cx="2647355" cy="1223888"/>
          </a:xfrm>
          <a:prstGeom prst="roundRect">
            <a:avLst>
              <a:gd name="adj" fmla="val 160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384203" y="1195462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2401" y="1303660"/>
            <a:ext cx="177031" cy="1770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4203" y="1715988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Rule Validation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022702" y="1059582"/>
            <a:ext cx="2647355" cy="1223888"/>
          </a:xfrm>
          <a:prstGeom prst="roundRect">
            <a:avLst>
              <a:gd name="adj" fmla="val 160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158582" y="1195462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6158582" y="1715988"/>
            <a:ext cx="237559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Automatic Dependency Resolution (Type-B &amp;D)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73943" y="2410495"/>
            <a:ext cx="2647355" cy="1008087"/>
          </a:xfrm>
          <a:prstGeom prst="roundRect">
            <a:avLst>
              <a:gd name="adj" fmla="val 1951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09823" y="2546375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021" y="2654573"/>
            <a:ext cx="177031" cy="17703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823" y="3066901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Pricing Engine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3248323" y="2410495"/>
            <a:ext cx="2647355" cy="1008087"/>
          </a:xfrm>
          <a:prstGeom prst="roundRect">
            <a:avLst>
              <a:gd name="adj" fmla="val 1951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3384203" y="2546375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401" y="2654573"/>
            <a:ext cx="177031" cy="17703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84203" y="3066901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Tax &amp; Logistics Calculation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022702" y="2410495"/>
            <a:ext cx="2647355" cy="1008087"/>
          </a:xfrm>
          <a:prstGeom prst="roundRect">
            <a:avLst>
              <a:gd name="adj" fmla="val 1951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6158582" y="2546375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6780" y="2654573"/>
            <a:ext cx="177031" cy="17703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58582" y="3066901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Bill of Materials Generation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473943" y="3545607"/>
            <a:ext cx="2647355" cy="1223888"/>
          </a:xfrm>
          <a:prstGeom prst="roundRect">
            <a:avLst>
              <a:gd name="adj" fmla="val 160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609823" y="3681487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021" y="3789685"/>
            <a:ext cx="177031" cy="17703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09823" y="4202013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Quote Generation</a:t>
            </a:r>
            <a:endParaRPr lang="en-US" sz="1350" dirty="0"/>
          </a:p>
        </p:txBody>
      </p:sp>
      <p:sp>
        <p:nvSpPr>
          <p:cNvPr id="31" name="Shape 22"/>
          <p:cNvSpPr/>
          <p:nvPr/>
        </p:nvSpPr>
        <p:spPr>
          <a:xfrm>
            <a:off x="3248323" y="3545607"/>
            <a:ext cx="2647355" cy="1223888"/>
          </a:xfrm>
          <a:prstGeom prst="roundRect">
            <a:avLst>
              <a:gd name="adj" fmla="val 160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>
            <a:off x="3384203" y="3681487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92401" y="3789685"/>
            <a:ext cx="177031" cy="177031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384203" y="4202013"/>
            <a:ext cx="237559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Export Services (JSON, PDF, Excel, ZIP)</a:t>
            </a:r>
            <a:endParaRPr lang="en-US" sz="1350" dirty="0"/>
          </a:p>
        </p:txBody>
      </p:sp>
      <p:sp>
        <p:nvSpPr>
          <p:cNvPr id="35" name="Shape 25"/>
          <p:cNvSpPr/>
          <p:nvPr/>
        </p:nvSpPr>
        <p:spPr>
          <a:xfrm>
            <a:off x="6022702" y="3545607"/>
            <a:ext cx="2647355" cy="1223888"/>
          </a:xfrm>
          <a:prstGeom prst="roundRect">
            <a:avLst>
              <a:gd name="adj" fmla="val 160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6"/>
          <p:cNvSpPr/>
          <p:nvPr/>
        </p:nvSpPr>
        <p:spPr>
          <a:xfrm>
            <a:off x="6158582" y="3681487"/>
            <a:ext cx="393502" cy="393502"/>
          </a:xfrm>
          <a:prstGeom prst="ellipse">
            <a:avLst/>
          </a:prstGeom>
          <a:solidFill>
            <a:srgbClr val="4296C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66780" y="3789685"/>
            <a:ext cx="177031" cy="177031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158582" y="4202013"/>
            <a:ext cx="237559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Persistent Configuration Database</a:t>
            </a:r>
            <a:endParaRPr lang="en-US" sz="13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189F1CB-284A-50D8-1D51-1FBAD47AC6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3174" y="1269095"/>
            <a:ext cx="265807" cy="26580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3F53EF1-CAA9-F6DD-4D0B-A6336DC016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674" y="1269095"/>
            <a:ext cx="244151" cy="2441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1E6B478-371D-F11F-C2C5-945A966A7E2F}"/>
              </a:ext>
            </a:extLst>
          </p:cNvPr>
          <p:cNvSpPr/>
          <p:nvPr/>
        </p:nvSpPr>
        <p:spPr>
          <a:xfrm>
            <a:off x="473943" y="374005"/>
            <a:ext cx="8196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Elevator categories </a:t>
            </a:r>
            <a:endParaRPr lang="en-US" sz="27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D13FD48-767E-71FC-3704-D026B9418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1" y="894780"/>
            <a:ext cx="4449751" cy="531465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036C0A0F-E2D1-8C90-5A24-2617C07A5DFE}"/>
              </a:ext>
            </a:extLst>
          </p:cNvPr>
          <p:cNvSpPr/>
          <p:nvPr/>
        </p:nvSpPr>
        <p:spPr>
          <a:xfrm>
            <a:off x="613109" y="1049185"/>
            <a:ext cx="43105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Type-A : Standard residential / Off the shelf elevators</a:t>
            </a:r>
            <a:endParaRPr lang="en-US" sz="14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B68728D-E3EE-D57E-A080-D0441C203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661" y="2707170"/>
            <a:ext cx="4438031" cy="531465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76C4CF6A-CEE2-E59E-AB35-1A64E1858848}"/>
              </a:ext>
            </a:extLst>
          </p:cNvPr>
          <p:cNvSpPr/>
          <p:nvPr/>
        </p:nvSpPr>
        <p:spPr>
          <a:xfrm>
            <a:off x="624830" y="2861575"/>
            <a:ext cx="371505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Type-B : Commercial / Customizable elevators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F39005-CC45-E44E-74ED-43DEDC254ADE}"/>
              </a:ext>
            </a:extLst>
          </p:cNvPr>
          <p:cNvSpPr txBox="1"/>
          <p:nvPr/>
        </p:nvSpPr>
        <p:spPr>
          <a:xfrm>
            <a:off x="485662" y="1568548"/>
            <a:ext cx="819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Pre-configured, cost-effective essentials with fixed capacity and speed for straightforward residential installations.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Offers 5 feature classes, of which only 2 classes can be configured.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8AC58-DE27-2061-AF17-84D6E8CE05A2}"/>
              </a:ext>
            </a:extLst>
          </p:cNvPr>
          <p:cNvSpPr txBox="1"/>
          <p:nvPr/>
        </p:nvSpPr>
        <p:spPr>
          <a:xfrm>
            <a:off x="490349" y="3451271"/>
            <a:ext cx="8196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Enhanced customization with aesthetic choices, configurable dimensions, and standard smart features for modern commercial spaces.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Offers 18 customizable feature classes with 10 dependencies / constraints which is kept in check by the rule engine.</a:t>
            </a:r>
          </a:p>
        </p:txBody>
      </p:sp>
    </p:spTree>
    <p:extLst>
      <p:ext uri="{BB962C8B-B14F-4D97-AF65-F5344CB8AC3E}">
        <p14:creationId xmlns:p14="http://schemas.microsoft.com/office/powerpoint/2010/main" val="302731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54286-84C2-DB80-FCE3-C50B3461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6DF02F8-3CBB-09C5-C33A-08B31CB5F666}"/>
              </a:ext>
            </a:extLst>
          </p:cNvPr>
          <p:cNvSpPr/>
          <p:nvPr/>
        </p:nvSpPr>
        <p:spPr>
          <a:xfrm>
            <a:off x="473943" y="374005"/>
            <a:ext cx="8196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Elevator categories </a:t>
            </a:r>
            <a:endParaRPr lang="en-US" sz="27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2A018DF-35BA-1E6F-C521-33ADD3296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2" y="894780"/>
            <a:ext cx="4421616" cy="531465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C06EBEA-8221-395D-B412-2AF050512BC1}"/>
              </a:ext>
            </a:extLst>
          </p:cNvPr>
          <p:cNvSpPr/>
          <p:nvPr/>
        </p:nvSpPr>
        <p:spPr>
          <a:xfrm>
            <a:off x="613109" y="1049185"/>
            <a:ext cx="43105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Type-C : Heavy Duty / Industrial elevators (Certified)</a:t>
            </a:r>
            <a:endParaRPr lang="en-US" sz="14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5177467-8EBF-479D-553A-F38BAC559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661" y="2707170"/>
            <a:ext cx="4409895" cy="531465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33DDE3A4-3662-3F78-8809-AE26C1348B77}"/>
              </a:ext>
            </a:extLst>
          </p:cNvPr>
          <p:cNvSpPr/>
          <p:nvPr/>
        </p:nvSpPr>
        <p:spPr>
          <a:xfrm>
            <a:off x="624830" y="2861575"/>
            <a:ext cx="371505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Type-D : Highly Customizable elevators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7DDBD-E3AE-EE59-CF68-24D3719B3BAF}"/>
              </a:ext>
            </a:extLst>
          </p:cNvPr>
          <p:cNvSpPr txBox="1"/>
          <p:nvPr/>
        </p:nvSpPr>
        <p:spPr>
          <a:xfrm>
            <a:off x="485662" y="1568548"/>
            <a:ext cx="819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Rugged, high-capacity components with industrial-grade fire evacuation and remote monitoring for demanding industrial / commercial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Offers various certifications and industrial-grade features for robust industrial level handling.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5C1456-278D-04D5-63F7-2B9B6C9CECA5}"/>
              </a:ext>
            </a:extLst>
          </p:cNvPr>
          <p:cNvSpPr txBox="1"/>
          <p:nvPr/>
        </p:nvSpPr>
        <p:spPr>
          <a:xfrm>
            <a:off x="490349" y="3451271"/>
            <a:ext cx="8196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This elevator class is an extension of ‘Type-B’ elevator class offering more feature classes for customers to explore various elevator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Offers 50 customizable feature classes with 37 dependencies/constraints which is kept in check by the rule engine.</a:t>
            </a:r>
          </a:p>
        </p:txBody>
      </p:sp>
    </p:spTree>
    <p:extLst>
      <p:ext uri="{BB962C8B-B14F-4D97-AF65-F5344CB8AC3E}">
        <p14:creationId xmlns:p14="http://schemas.microsoft.com/office/powerpoint/2010/main" val="185516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202" y="239570"/>
            <a:ext cx="2887506" cy="449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Workflow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24116" b="27039"/>
          <a:stretch>
            <a:fillRect/>
          </a:stretch>
        </p:blipFill>
        <p:spPr>
          <a:xfrm>
            <a:off x="832617" y="3282474"/>
            <a:ext cx="6347773" cy="17022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BB443EB-D2E9-8FE7-E8ED-AE5F19BB9782}"/>
              </a:ext>
            </a:extLst>
          </p:cNvPr>
          <p:cNvSpPr txBox="1"/>
          <p:nvPr/>
        </p:nvSpPr>
        <p:spPr>
          <a:xfrm>
            <a:off x="723202" y="689456"/>
            <a:ext cx="7165596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Font typeface="+mj-lt"/>
              <a:buAutoNum type="arabicPeriod"/>
            </a:pPr>
            <a:r>
              <a:rPr lang="en-IN" sz="1200" b="1" i="0" dirty="0">
                <a:effectLst/>
                <a:latin typeface="Barlow Bold" panose="020B0604020202020204" charset="0"/>
              </a:rPr>
              <a:t>Intake &amp; Validation (Steps 01-02):</a:t>
            </a:r>
            <a:r>
              <a:rPr lang="en-IN" sz="1200" b="0" i="0" dirty="0">
                <a:effectLst/>
                <a:latin typeface="Barlow Bold" panose="020B0604020202020204" charset="0"/>
              </a:rPr>
              <a:t> </a:t>
            </a:r>
          </a:p>
          <a:p>
            <a:pPr indent="0" algn="l"/>
            <a:r>
              <a:rPr lang="en-IN" sz="1000" b="0" i="0" dirty="0">
                <a:effectLst/>
                <a:latin typeface="Montserrat Medium" panose="00000600000000000000" pitchFamily="2" charset="0"/>
              </a:rPr>
              <a:t>The system captures the customer’s feature selections through </a:t>
            </a:r>
            <a:r>
              <a:rPr lang="en-IN" sz="1000" dirty="0">
                <a:latin typeface="Montserrat Medium" panose="00000600000000000000" pitchFamily="2" charset="0"/>
              </a:rPr>
              <a:t>the</a:t>
            </a:r>
            <a:r>
              <a:rPr lang="en-IN" sz="1000" b="0" i="0" dirty="0">
                <a:effectLst/>
                <a:latin typeface="Montserrat Medium" panose="00000600000000000000" pitchFamily="2" charset="0"/>
              </a:rPr>
              <a:t> intuitive React UI and instantly validates them against strict physical constraints using </a:t>
            </a:r>
            <a:r>
              <a:rPr lang="en-IN" sz="1000" dirty="0">
                <a:latin typeface="Montserrat Medium" panose="00000600000000000000" pitchFamily="2" charset="0"/>
              </a:rPr>
              <a:t>the</a:t>
            </a:r>
            <a:r>
              <a:rPr lang="en-IN" sz="1000" b="0" i="0" dirty="0">
                <a:effectLst/>
                <a:latin typeface="Montserrat Medium" panose="00000600000000000000" pitchFamily="2" charset="0"/>
              </a:rPr>
              <a:t> custom Rule Engine.</a:t>
            </a:r>
          </a:p>
          <a:p>
            <a:pPr indent="0" algn="l"/>
            <a:endParaRPr lang="en-IN" sz="1050" b="0" i="0" dirty="0">
              <a:effectLst/>
              <a:latin typeface="Montserrat Medium" panose="00000600000000000000" pitchFamily="2" charset="0"/>
            </a:endParaRPr>
          </a:p>
          <a:p>
            <a:pPr indent="0" algn="l"/>
            <a:r>
              <a:rPr lang="en-IN" sz="1200" b="1" i="0" dirty="0">
                <a:effectLst/>
                <a:latin typeface="Barlow Bold" panose="020B0604020202020204" charset="0"/>
              </a:rPr>
              <a:t>2.Resolution &amp; Assembly (Steps 03-04):</a:t>
            </a:r>
            <a:r>
              <a:rPr lang="en-IN" sz="1200" b="0" i="0" dirty="0">
                <a:effectLst/>
                <a:latin typeface="Barlow Bold" panose="020B0604020202020204" charset="0"/>
              </a:rPr>
              <a:t> </a:t>
            </a:r>
          </a:p>
          <a:p>
            <a:pPr indent="0" algn="l"/>
            <a:r>
              <a:rPr lang="en-IN" sz="1000" dirty="0">
                <a:latin typeface="Montserrat Medium" panose="00000600000000000000" pitchFamily="2" charset="0"/>
              </a:rPr>
              <a:t>The</a:t>
            </a:r>
            <a:r>
              <a:rPr lang="en-IN" sz="1000" b="0" i="0" dirty="0">
                <a:effectLst/>
                <a:latin typeface="Montserrat Medium" panose="00000600000000000000" pitchFamily="2" charset="0"/>
              </a:rPr>
              <a:t> mathematical Dependency Engine automatically identifies any hidden structural prerequisites and compiles everything into a comprehensive, line-by-line Bill of Materials (BOM).</a:t>
            </a:r>
          </a:p>
          <a:p>
            <a:pPr indent="0" algn="l"/>
            <a:endParaRPr lang="en-IN" sz="1050" b="0" i="0" dirty="0">
              <a:effectLst/>
              <a:latin typeface="Montserrat Medium" panose="00000600000000000000" pitchFamily="2" charset="0"/>
            </a:endParaRPr>
          </a:p>
          <a:p>
            <a:pPr indent="0" algn="l"/>
            <a:r>
              <a:rPr lang="en-IN" sz="1200" b="1" i="0" dirty="0">
                <a:effectLst/>
                <a:latin typeface="Barlow Bold" panose="020B0604020202020204" charset="0"/>
              </a:rPr>
              <a:t>3.Costing &amp; Quoting (Steps 05-06):</a:t>
            </a:r>
            <a:endParaRPr lang="en-IN" sz="1200" dirty="0">
              <a:latin typeface="Barlow Bold" panose="020B0604020202020204" charset="0"/>
            </a:endParaRPr>
          </a:p>
          <a:p>
            <a:pPr indent="0" algn="l"/>
            <a:r>
              <a:rPr lang="en-IN" sz="1000" b="0" i="0" dirty="0">
                <a:effectLst/>
                <a:latin typeface="Montserrat Medium" panose="00000600000000000000" pitchFamily="2" charset="0"/>
              </a:rPr>
              <a:t>The Pricing Engine cross-references the generated BOM against </a:t>
            </a:r>
            <a:r>
              <a:rPr lang="en-IN" sz="1000" dirty="0">
                <a:latin typeface="Montserrat Medium" panose="00000600000000000000" pitchFamily="2" charset="0"/>
              </a:rPr>
              <a:t>the</a:t>
            </a:r>
            <a:r>
              <a:rPr lang="en-IN" sz="1000" b="0" i="0" dirty="0">
                <a:effectLst/>
                <a:latin typeface="Montserrat Medium" panose="00000600000000000000" pitchFamily="2" charset="0"/>
              </a:rPr>
              <a:t> dynamic catalogues to accurately calculate markups and taxes, instantly generating a reliable quote.</a:t>
            </a:r>
          </a:p>
          <a:p>
            <a:pPr indent="0" algn="l"/>
            <a:endParaRPr lang="en-IN" sz="1050" b="0" i="0" dirty="0">
              <a:effectLst/>
              <a:latin typeface="Montserrat Medium" panose="00000600000000000000" pitchFamily="2" charset="0"/>
            </a:endParaRPr>
          </a:p>
          <a:p>
            <a:pPr indent="0" algn="l"/>
            <a:r>
              <a:rPr lang="en-IN" sz="1200" b="1" i="0" dirty="0">
                <a:effectLst/>
                <a:latin typeface="Segoe WPC"/>
              </a:rPr>
              <a:t>4</a:t>
            </a:r>
            <a:r>
              <a:rPr lang="en-IN" sz="1200" b="1" i="0" dirty="0">
                <a:effectLst/>
                <a:latin typeface="Barlow Bold" panose="020B0604020202020204" charset="0"/>
              </a:rPr>
              <a:t>.Export &amp; Archiving (Steps 07-08):</a:t>
            </a:r>
            <a:r>
              <a:rPr lang="en-IN" sz="1200" b="0" i="0" dirty="0">
                <a:effectLst/>
                <a:latin typeface="Barlow Bold" panose="020B0604020202020204" charset="0"/>
              </a:rPr>
              <a:t> </a:t>
            </a:r>
          </a:p>
          <a:p>
            <a:pPr indent="0" algn="l"/>
            <a:r>
              <a:rPr lang="en-IN" sz="1000" b="0" i="0" dirty="0">
                <a:effectLst/>
                <a:latin typeface="Montserrat Medium" panose="00000600000000000000" pitchFamily="2" charset="0"/>
              </a:rPr>
              <a:t>The finalized configuration is immediately available for export as a professional PDF or Excel manifest, and is securely saved to the database for future auditing and retrieval.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42310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Software Engineering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841851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Design Principles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267574"/>
            <a:ext cx="2641774" cy="5314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552" y="1421983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Layered Architecture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1076" y="1267574"/>
            <a:ext cx="2641774" cy="5314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81685" y="1421983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Modular Design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209" y="1267574"/>
            <a:ext cx="2641848" cy="5314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58818" y="1421983"/>
            <a:ext cx="22568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Registry Pattern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934399"/>
            <a:ext cx="2641774" cy="5314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4552" y="2088808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Pipeline-based Execution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1076" y="1934399"/>
            <a:ext cx="2641774" cy="53146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81685" y="2088808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 Architecture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209" y="1934399"/>
            <a:ext cx="2641848" cy="53146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258818" y="2088808"/>
            <a:ext cx="22568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b="1" dirty="0">
                <a:latin typeface="Barlow Bold" panose="020B0604020202020204" charset="0"/>
              </a:rPr>
              <a:t>Separation of Concerns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4B5F89-F8E4-6A9E-109D-9992D5196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91" r="-1" b="16643"/>
          <a:stretch>
            <a:fillRect/>
          </a:stretch>
        </p:blipFill>
        <p:spPr>
          <a:xfrm>
            <a:off x="541605" y="2655165"/>
            <a:ext cx="3799785" cy="2146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624CFC-BF59-8CBA-1185-A640A50DDB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90" b="22684"/>
          <a:stretch>
            <a:fillRect/>
          </a:stretch>
        </p:blipFill>
        <p:spPr>
          <a:xfrm>
            <a:off x="4556382" y="2655165"/>
            <a:ext cx="3799785" cy="19942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09551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76386" y="1458069"/>
            <a:ext cx="4127971" cy="2077492"/>
          </a:xfrm>
          <a:prstGeom prst="roundRect">
            <a:avLst>
              <a:gd name="adj" fmla="val 15644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1746" y="1593428"/>
            <a:ext cx="385725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Outcome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1746" y="1951434"/>
            <a:ext cx="3992611" cy="81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a complete Elevator Configuration &amp; Pricing platform with an end-to-end workflow from customer configuration for price estimation </a:t>
            </a:r>
            <a:r>
              <a:rPr lang="en-US" sz="105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elevator feature 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962" y="1593428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41962" y="1951434"/>
            <a:ext cx="3932858" cy="1536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Authentication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Integration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Migration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AI-assisted configuration recommendations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pricing updates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3943" y="3721671"/>
            <a:ext cx="8196114" cy="19050"/>
          </a:xfrm>
          <a:prstGeom prst="roundRect">
            <a:avLst>
              <a:gd name="adj" fmla="val 60000"/>
            </a:avLst>
          </a:prstGeom>
          <a:solidFill>
            <a:srgbClr val="38465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17264" y="4267454"/>
            <a:ext cx="137418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595</Words>
  <Application>Microsoft Office PowerPoint</Application>
  <PresentationFormat>On-screen Show (16:9)</PresentationFormat>
  <Paragraphs>119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Barlow Bold</vt:lpstr>
      <vt:lpstr>Montserrat Medium</vt:lpstr>
      <vt:lpstr>Segoe WPC</vt:lpstr>
      <vt:lpstr>Montserrat</vt:lpstr>
      <vt:lpstr>Barlow Light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 balagi R</cp:lastModifiedBy>
  <cp:revision>12</cp:revision>
  <dcterms:created xsi:type="dcterms:W3CDTF">2026-07-10T09:58:19Z</dcterms:created>
  <dcterms:modified xsi:type="dcterms:W3CDTF">2026-07-16T05:57:19Z</dcterms:modified>
</cp:coreProperties>
</file>